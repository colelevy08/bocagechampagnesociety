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0" y="2286000"/>
            <a:ext cx="6705295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D4A843"/>
                </a:solidFill>
                <a:latin typeface="Georgia"/>
              </a:defRPr>
            </a:pPr>
            <a:r>
              <a:t>Bocage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CHAMPAGNE SOCIETY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023360"/>
            <a:ext cx="6705295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  <a:latin typeface="Calibri"/>
              </a:defRPr>
            </a:pPr>
            <a:r>
              <a:t>A Luxury Membership &amp; Loyalty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6B6B"/>
                </a:solidFill>
                <a:latin typeface="Calibri"/>
              </a:defRPr>
            </a:pPr>
            <a:r>
              <a:t>Prepared for Clark Gale &amp; Zac Denham  |  Sure Thing Hospitality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10 Phila Street, Saratoga Springs, NY 12866  |  champagnebar.com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463040"/>
            <a:ext cx="2133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843"/>
                </a:solidFill>
                <a:latin typeface="Calibri"/>
              </a:defRPr>
            </a:pPr>
            <a:r>
              <a:t>EST.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Bocage Champagne Bar is Saratoga's premier luxury destination. But your customers only interact with you when they walk through the door.</a:t>
            </a:r>
            <a:br/>
            <a:br/>
            <a:r>
              <a:t>What if you could be in their pocket 24/7?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843"/>
                </a:solidFill>
                <a:latin typeface="Calibri"/>
              </a:defRPr>
            </a:pPr>
            <a:r>
              <a:t>Industry Facts: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DF8EC"/>
                </a:solidFill>
                <a:latin typeface="Calibri"/>
              </a:defRPr>
            </a:pPr>
            <a:r>
              <a:t>  78% of restaurant revenue comes from repeat customers</a:t>
            </a:r>
          </a:p>
          <a:p>
            <a:pPr>
              <a:spcAft>
                <a:spcPts val="600"/>
              </a:spcAft>
              <a:defRPr sz="1400">
                <a:solidFill>
                  <a:srgbClr val="FDF8EC"/>
                </a:solidFill>
                <a:latin typeface="Calibri"/>
              </a:defRPr>
            </a:pPr>
            <a:r>
              <a:t>  Loyalty members spend 67% more than non-members</a:t>
            </a:r>
          </a:p>
          <a:p>
            <a:pPr>
              <a:spcAft>
                <a:spcPts val="600"/>
              </a:spcAft>
              <a:defRPr sz="1400">
                <a:solidFill>
                  <a:srgbClr val="FDF8EC"/>
                </a:solidFill>
                <a:latin typeface="Calibri"/>
              </a:defRPr>
            </a:pPr>
            <a:r>
              <a:t>  Push notifications have 7x the engagement of email</a:t>
            </a:r>
          </a:p>
          <a:p>
            <a:pPr>
              <a:spcAft>
                <a:spcPts val="600"/>
              </a:spcAft>
              <a:defRPr sz="1400">
                <a:solidFill>
                  <a:srgbClr val="FDF8EC"/>
                </a:solidFill>
                <a:latin typeface="Calibri"/>
              </a:defRPr>
            </a:pPr>
            <a:r>
              <a:t>  Digital gift cards grow revenue 20-30% year-over-year</a:t>
            </a:r>
          </a:p>
          <a:p>
            <a:pPr>
              <a:spcAft>
                <a:spcPts val="600"/>
              </a:spcAft>
              <a:defRPr sz="1400">
                <a:solidFill>
                  <a:srgbClr val="FDF8EC"/>
                </a:solidFill>
                <a:latin typeface="Calibri"/>
              </a:defRPr>
            </a:pPr>
            <a:r>
              <a:t>  Top hospitality apps see 40%+ monthly active 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81818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D4A843"/>
                </a:solidFill>
                <a:latin typeface="Calibri"/>
              </a:defRPr>
            </a:pPr>
            <a:r>
              <a:t>The Bocage Champagne Society app transforms casual visitors into loyal members, drives recurring revenue through subscriptions, and creates a VIP experience that matches the luxury of your bar.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01168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3"/>
                </a:solidFill>
                <a:latin typeface="Calibri"/>
              </a:defRPr>
            </a:pPr>
            <a:r>
              <a:t>Digital Wine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Your full menu — Bar Snacks, Caviar, Flights, Cocktails, Wines — searchable and always up-to-date. No more PDF downloads.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645920"/>
            <a:ext cx="3474720" cy="201168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3"/>
                </a:solidFill>
                <a:latin typeface="Calibri"/>
              </a:defRPr>
            </a:pPr>
            <a:r>
              <a:t>3-Tier Membership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Flûte (free), Magnum ($29.99/mo), Jeroboam ($79.99/mo). Points multipliers, perks, and exclusive access at each level.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74720" cy="201168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3"/>
                </a:solidFill>
                <a:latin typeface="Calibri"/>
              </a:defRPr>
            </a:pPr>
            <a:r>
              <a:t>Event Bookings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Create and sell tickets to champagne tastings, dinners, and masterclasses. Tier-gated VIP events drive upgrades.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474720" cy="201168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3"/>
                </a:solidFill>
                <a:latin typeface="Calibri"/>
              </a:defRPr>
            </a:pPr>
            <a:r>
              <a:t>At-Home Experiences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Book private champagne experiences starting at $250. Three tiers of luxury service — a high-margin revenue stream.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59" y="3931920"/>
            <a:ext cx="3474720" cy="201168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3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572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Full inventory management, event creation, member insights. Control everything from your phone.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474720" cy="201168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3"/>
                </a:solidFill>
                <a:latin typeface="Calibri"/>
              </a:defRPr>
            </a:pPr>
            <a:r>
              <a:t>Push 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572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Send targeted promotions to members. 'Happy Hour starting now' drives immediate foot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Revenue Streams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Multiple ways the app generates direct and indirect revenue for Bocage: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1. Membership Subscriptions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04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$29.99/mo (Magnum) + $79.99/mo (Jeroboam)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Just 100 Magnum + 25 Jeroboam members = $60K/year recurring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2. Event Ticket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04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$55–$250 per ticket, sold in-app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5 events/month × 20 avg seats × $90 avg = $108K/year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3. At-Home Experiences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47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$250–$1,000+ per booking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4 bookings/month × $500 avg = $24K/year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4. Digital Gift Cards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47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Purchasable in-app, redeemable at 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03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Holiday/birthday gift cards drive new customer acquisition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5. In-App Pre-Orders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90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Order ahead, open tabs, skip the wait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46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Increases avg ticket size 15-25% via upselling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6. Push 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590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Targeted promotions drive same-day visits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46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e.g. "Champagne Tuesday: 2-for-1 glasses" — no ad spend required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440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7. Referral Program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733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Members earn 100 pts for each referral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Organic growth: each member brings 1.5 new members on avg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40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843"/>
                </a:solidFill>
                <a:latin typeface="Calibri"/>
              </a:defRPr>
            </a:pPr>
            <a:r>
              <a:t>8. Data &amp; 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332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Know your top spenders, popular items, peak times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989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Optimize inventory, staffing, and marketing with real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Conservative Revenue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Year 1 estimates based on Saratoga Springs market and comparable hospitality loyalty programs: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4A843"/>
                </a:solidFill>
                <a:latin typeface="Calibri"/>
              </a:defRPr>
            </a:pPr>
            <a:r>
              <a:t>Revenue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011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4A843"/>
                </a:solidFill>
                <a:latin typeface="Calibri"/>
              </a:defRPr>
            </a:pPr>
            <a:r>
              <a:t>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D4A843"/>
                </a:solidFill>
                <a:latin typeface="Calibri"/>
              </a:defRPr>
            </a:pPr>
            <a:r>
              <a:t>Annual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377440"/>
            <a:ext cx="100584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Memberships (Magnum)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100 members × $29.99/mo ×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$35,988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Memberships (Jeroboam)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25 members × $79.99/mo ×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$23,997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Event Tickets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60 events × 18 avg seats × $90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$97,200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31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At-Home Bookings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931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48 bookings × $500 avg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$24,000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Gift Card Sales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389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200 cards × $75 avg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389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$15,000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46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DF8EC"/>
                </a:solidFill>
                <a:latin typeface="Calibri"/>
              </a:defRPr>
            </a:pPr>
            <a:r>
              <a:t>Increased Spend (loyalty lift)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846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15% lift on 500 members × $80 avg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$72,000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Referral-Driven New Customers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303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75 new customers × $120 first-year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5303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$9,000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5852160"/>
            <a:ext cx="100584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943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TOTAL PROJECTED YEAR 1 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5943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D4A843"/>
                </a:solidFill>
                <a:latin typeface="Calibri"/>
              </a:defRPr>
            </a:pPr>
            <a:r>
              <a:t>$277,185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Infrastructure &amp; Net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B6B"/>
                </a:solidFill>
                <a:latin typeface="Calibri"/>
              </a:defRPr>
            </a:pPr>
            <a:r>
              <a:t>Real infrastructure costs on Supabase Pro — lean and scalable: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843"/>
                </a:solidFill>
                <a:latin typeface="Calibri"/>
              </a:defRPr>
            </a:pPr>
            <a:r>
              <a:t>Cost 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20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843"/>
                </a:solidFill>
                <a:latin typeface="Calibri"/>
              </a:defRPr>
            </a:pPr>
            <a:r>
              <a:t>Details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Calibri"/>
              </a:defRPr>
            </a:pPr>
            <a:r>
              <a:t>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4A843"/>
                </a:solidFill>
                <a:latin typeface="Calibri"/>
              </a:defRPr>
            </a:pPr>
            <a:r>
              <a:t>Annual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240280"/>
            <a:ext cx="100584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317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Supabase Pro Plan (base)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Per project/month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3317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$25/mo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3317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606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DF8EC"/>
                </a:solidFill>
                <a:latin typeface="Calibri"/>
              </a:defRPr>
            </a:pPr>
            <a:r>
              <a:t>MAU (100K included free)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0603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First 100K MAUs included in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60603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60603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DF8EC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MAU 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803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Est. 2,000 MAU Year 1 — well under 100K limit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8803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8803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15467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DF8EC"/>
                </a:solidFill>
                <a:latin typeface="Calibri"/>
              </a:defRPr>
            </a:pPr>
            <a:r>
              <a:t>Database Disk (8 GB included)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15467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8 GB included, est. ~2 GB used Year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1546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31546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DF8EC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4290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Egress (250 GB included)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429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250 GB included, est. ~50 GB used Year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4290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4290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7033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DF8EC"/>
                </a:solidFill>
                <a:latin typeface="Calibri"/>
              </a:defRPr>
            </a:pPr>
            <a:r>
              <a:t>File Storage (100 GB included)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7033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Wine images + assets, est. ~5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03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703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DF8EC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39776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Daily Backups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97763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Included — stored for 7 days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397763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397763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DF8EC"/>
                </a:solidFill>
                <a:latin typeface="Calibri"/>
              </a:defRPr>
            </a:pPr>
            <a:r>
              <a:t>Email 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2519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Included with Pro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2519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42519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DF8EC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452627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Vercel Hosting (web)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52627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Hobby/Pro plan for web app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45262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$20/mo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45262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48006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DF8EC"/>
                </a:solidFill>
                <a:latin typeface="Calibri"/>
              </a:defRPr>
            </a:pPr>
            <a:r>
              <a:t>Apple Developer Account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4800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iOS App Store distribution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4800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$99/yr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800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DF8EC"/>
                </a:solidFill>
                <a:latin typeface="Calibri"/>
              </a:defRPr>
            </a:pPr>
            <a:r>
              <a:t>$99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749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Google Play Developer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0749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Android distribution (one-time)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50749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50749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534924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DF8EC"/>
                </a:solidFill>
                <a:latin typeface="Calibri"/>
              </a:defRPr>
            </a:pPr>
            <a:r>
              <a:t>Stripe Payment Processing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534924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2.9% + $0.30 per transaction (on ~$200K)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3492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~2.9%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53492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DF8EC"/>
                </a:solidFill>
                <a:latin typeface="Calibri"/>
              </a:defRPr>
            </a:pPr>
            <a:r>
              <a:t>~$6,200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562355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Domain + SSL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562355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6B6B"/>
                </a:solidFill>
                <a:latin typeface="Calibri"/>
              </a:defRPr>
            </a:pPr>
            <a:r>
              <a:t>champagnebar.com — already owned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56235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56235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97280" y="5897880"/>
            <a:ext cx="100584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5989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TOTAL INFRASTRUCTURE COST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5989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6666"/>
                </a:solidFill>
                <a:latin typeface="Calibri"/>
              </a:defRPr>
            </a:pPr>
            <a:r>
              <a:t>~$6,864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728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YEAR 1 GROSS REVENUE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6355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$277,185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97280" y="6720840"/>
            <a:ext cx="100584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97280" y="67665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NET PROFIT (97.5% margin)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6766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22C55E"/>
                </a:solidFill>
                <a:latin typeface="Calibri"/>
              </a:defRPr>
            </a:pPr>
            <a:r>
              <a:t>$270,321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Membership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566160" cy="4572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B6B6B"/>
                </a:solidFill>
                <a:latin typeface="Georgia"/>
              </a:defRPr>
            </a:pPr>
            <a:r>
              <a:t>Flûte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Entry tier — every signup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926080"/>
            <a:ext cx="265176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1x points on every visit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Member-only event access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Birthday champagne toast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Early access to new arrivals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Digital membership card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Push notification deals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3566160" cy="4572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843"/>
                </a:solidFill>
                <a:latin typeface="Georgia"/>
              </a:defRPr>
            </a:pPr>
            <a:r>
              <a:t>Magnum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240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$29.99/month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606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For champagne enthusiasts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2926080"/>
            <a:ext cx="265176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10896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1.5x points multiplier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All Flûte benefits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Complimentary monthly glass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Priority event seating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Exclusive Magnum tastings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10% off At-Home bookings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645920"/>
            <a:ext cx="3566160" cy="4572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C4899"/>
                </a:solidFill>
                <a:latin typeface="Georgia"/>
              </a:defRPr>
            </a:pPr>
            <a:r>
              <a:t>Jeroboam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240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$79.99/month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06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The inner circle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2926080"/>
            <a:ext cx="265176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310896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2x points multiplier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All Magnum benefits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Complimentary monthly bottle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Private lounge access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Personal sommelier service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VIP event access</a:t>
            </a:r>
          </a:p>
          <a:p>
            <a:pPr>
              <a:spcAft>
                <a:spcPts val="600"/>
              </a:spcAft>
              <a:defRPr sz="1100">
                <a:solidFill>
                  <a:srgbClr val="FDF8EC"/>
                </a:solidFill>
                <a:latin typeface="Calibri"/>
              </a:defRPr>
            </a:pPr>
            <a:r>
              <a:t>  25% off At-Home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The App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1783080" cy="3474720"/>
          </a:xfrm>
          <a:prstGeom prst="roundRect">
            <a:avLst/>
          </a:prstGeom>
          <a:solidFill>
            <a:srgbClr val="181818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DF8EC"/>
                </a:solidFill>
                <a:latin typeface="Calibri"/>
              </a:defRPr>
            </a:pPr>
            <a:r>
              <a:t>Elegant Bocage branding with</a:t>
            </a:r>
            <a:br/>
            <a:r>
              <a:t>animated logo, password</a:t>
            </a:r>
            <a:br/>
            <a:r>
              <a:t>strength meter, and</a:t>
            </a:r>
            <a:br/>
            <a:r>
              <a:t>smooth transitions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645920"/>
            <a:ext cx="1783080" cy="3474720"/>
          </a:xfrm>
          <a:prstGeom prst="roundRect">
            <a:avLst/>
          </a:prstGeom>
          <a:solidFill>
            <a:srgbClr val="181818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18288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Wine Menu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28600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DF8EC"/>
                </a:solidFill>
                <a:latin typeface="Calibri"/>
              </a:defRPr>
            </a:pPr>
            <a:r>
              <a:t>Your full menu with search,</a:t>
            </a:r>
            <a:br/>
            <a:r>
              <a:t>filters, grid/list view,</a:t>
            </a:r>
            <a:br/>
            <a:r>
              <a:t>and tap-for-details.</a:t>
            </a:r>
            <a:br/>
            <a:r>
              <a:t>Always current.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1783080" cy="3474720"/>
          </a:xfrm>
          <a:prstGeom prst="roundRect">
            <a:avLst/>
          </a:prstGeom>
          <a:solidFill>
            <a:srgbClr val="181818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8288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Membership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8600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DF8EC"/>
                </a:solidFill>
                <a:latin typeface="Calibri"/>
              </a:defRPr>
            </a:pPr>
            <a:r>
              <a:t>Digital membership card,</a:t>
            </a:r>
            <a:br/>
            <a:r>
              <a:t>points progress, tier</a:t>
            </a:r>
            <a:br/>
            <a:r>
              <a:t>benefits, and transaction</a:t>
            </a:r>
            <a:br/>
            <a:r>
              <a:t>history at a glance.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45920"/>
            <a:ext cx="1783080" cy="3474720"/>
          </a:xfrm>
          <a:prstGeom prst="roundRect">
            <a:avLst/>
          </a:prstGeom>
          <a:solidFill>
            <a:srgbClr val="181818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18288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228600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DF8EC"/>
                </a:solidFill>
                <a:latin typeface="Calibri"/>
              </a:defRPr>
            </a:pPr>
            <a:r>
              <a:t>Upcoming events with</a:t>
            </a:r>
            <a:br/>
            <a:r>
              <a:t>countdown timers, seat</a:t>
            </a:r>
            <a:br/>
            <a:r>
              <a:t>tracking, tier-gating,</a:t>
            </a:r>
            <a:br/>
            <a:r>
              <a:t>and one-tap RSVP.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645920"/>
            <a:ext cx="1783080" cy="3474720"/>
          </a:xfrm>
          <a:prstGeom prst="roundRect">
            <a:avLst/>
          </a:prstGeom>
          <a:solidFill>
            <a:srgbClr val="181818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8288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At Home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28600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DF8EC"/>
                </a:solidFill>
                <a:latin typeface="Calibri"/>
              </a:defRPr>
            </a:pPr>
            <a:r>
              <a:t>Three-tier private</a:t>
            </a:r>
            <a:br/>
            <a:r>
              <a:t>experience booking with</a:t>
            </a:r>
            <a:br/>
            <a:r>
              <a:t>testimonials, FAQ,</a:t>
            </a:r>
            <a:br/>
            <a:r>
              <a:t>and instant requests.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95560" y="1645920"/>
            <a:ext cx="1783080" cy="3474720"/>
          </a:xfrm>
          <a:prstGeom prst="roundRect">
            <a:avLst/>
          </a:prstGeom>
          <a:solidFill>
            <a:srgbClr val="181818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0" y="182880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843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228600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DF8EC"/>
                </a:solidFill>
                <a:latin typeface="Calibri"/>
              </a:defRPr>
            </a:pPr>
            <a:r>
              <a:t>Full inventory + event</a:t>
            </a:r>
            <a:br/>
            <a:r>
              <a:t>management. Stats</a:t>
            </a:r>
            <a:br/>
            <a:r>
              <a:t>dashboard, CRUD</a:t>
            </a:r>
            <a:br/>
            <a:r>
              <a:t>operations, photo uploads.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6B6B"/>
                </a:solidFill>
                <a:latin typeface="Calibri"/>
              </a:defRPr>
            </a:pPr>
            <a:r>
              <a:t>Available on iOS App Store  •  Google Play Store  •  Web (champagnebar.com)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Why This 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94960" cy="1371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A843"/>
                </a:solidFill>
                <a:latin typeface="Calibri"/>
              </a:defRPr>
            </a:pPr>
            <a:r>
              <a:t>Custom-Built for Bocage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8EC"/>
                </a:solidFill>
                <a:latin typeface="Calibri"/>
              </a:defRPr>
            </a:pPr>
            <a:r>
              <a:t>Not a generic loyalty app. Every pixel reflects Bocage's luxury brand — dark noir backgrounds, champagne gold accents, and your actual menu items.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5394960" cy="1371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59" y="1783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A843"/>
                </a:solidFill>
                <a:latin typeface="Calibri"/>
              </a:defRPr>
            </a:pPr>
            <a:r>
              <a:t>Three Revenue Engines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59" y="214884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8EC"/>
                </a:solidFill>
                <a:latin typeface="Calibri"/>
              </a:defRPr>
            </a:pPr>
            <a:r>
              <a:t>Subscriptions provide predictable monthly income. Events generate high-margin ticket sales. At-Home creates a premium service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394960" cy="1371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9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A843"/>
                </a:solidFill>
                <a:latin typeface="Calibri"/>
              </a:defRPr>
            </a:pPr>
            <a:r>
              <a:t>Zero Marketing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947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8EC"/>
                </a:solidFill>
                <a:latin typeface="Calibri"/>
              </a:defRPr>
            </a:pPr>
            <a:r>
              <a:t>Push notifications replace paid ads. A single 'Happy Hour Starts Now' notification drives immediate visits — no Facebook spend required.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291840"/>
            <a:ext cx="5394960" cy="1371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3429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A843"/>
                </a:solidFill>
                <a:latin typeface="Calibri"/>
              </a:defRPr>
            </a:pPr>
            <a:r>
              <a:t>Data You Don't Have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7947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8EC"/>
                </a:solidFill>
                <a:latin typeface="Calibri"/>
              </a:defRPr>
            </a:pPr>
            <a:r>
              <a:t>Know your top 10 spenders, most popular cocktails, peak visit times, and which events sell out fastest. Make smarter business decisions.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5394960" cy="1371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74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A843"/>
                </a:solidFill>
                <a:latin typeface="Calibri"/>
              </a:defRPr>
            </a:pPr>
            <a:r>
              <a:t>Member Lock-In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4068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8EC"/>
                </a:solidFill>
                <a:latin typeface="Calibri"/>
              </a:defRPr>
            </a:pPr>
            <a:r>
              <a:t>Points + tiers create switching costs. A member with 400 points toward Magnum won't leave for a competitor. Retention becomes automatic.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937760"/>
            <a:ext cx="5394960" cy="1371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59" y="5074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4A843"/>
                </a:solidFill>
                <a:latin typeface="Calibri"/>
              </a:defRPr>
            </a:pPr>
            <a:r>
              <a:t>Viral Growth Built-In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544068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8EC"/>
                </a:solidFill>
                <a:latin typeface="Calibri"/>
              </a:defRPr>
            </a:pPr>
            <a:r>
              <a:t>Referral program + shareable events + gift cards turn every member into a marketer. Organic growth compounds month over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4A843"/>
                </a:solidFill>
                <a:latin typeface="Georgia"/>
              </a:defRPr>
            </a:pPr>
            <a:r>
              <a:t>Launch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6576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2148840" cy="438912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Week 1–2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574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843"/>
                </a:solidFill>
                <a:latin typeface="Calibri"/>
              </a:defRPr>
            </a:pPr>
            <a:r>
              <a:t>SETUP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16002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60604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Connect Supabase database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Configure Stripe payments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Upload wine menu + photos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Set admin accounts for Clark &amp; Zac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645920"/>
            <a:ext cx="2148840" cy="438912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39" y="17830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0574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843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799" y="2468880"/>
            <a:ext cx="16002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39" y="260604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Internal testing with staff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Verify all menu items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Test event booking flow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QA on iOS, Android, and web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2148840" cy="438912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7830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0574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843"/>
                </a:solidFill>
                <a:latin typeface="Calibri"/>
              </a:defRPr>
            </a:pPr>
            <a:r>
              <a:t>SOFT LAUNCH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2468880"/>
            <a:ext cx="16002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60604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Launch to email list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Staff promotes to regulars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First members earn points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Gather initial feedback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19" y="1645920"/>
            <a:ext cx="2148840" cy="438912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17830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20574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843"/>
                </a:solidFill>
                <a:latin typeface="Calibri"/>
              </a:defRPr>
            </a:pPr>
            <a:r>
              <a:t>FULL LAUNCH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2468880"/>
            <a:ext cx="16002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260604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App Store + Google Play live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First member event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Push notification campaigns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Referral program activated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1645920"/>
            <a:ext cx="2148840" cy="438912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17830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Month 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0574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843"/>
                </a:solidFill>
                <a:latin typeface="Calibri"/>
              </a:defRPr>
            </a:pPr>
            <a:r>
              <a:t>GROWTH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2468880"/>
            <a:ext cx="16002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Monthly events calendar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Gift card holiday push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At-Home marketing</a:t>
            </a:r>
          </a:p>
          <a:p>
            <a:pPr>
              <a:spcAft>
                <a:spcPts val="600"/>
              </a:spcAft>
              <a:defRPr sz="1000">
                <a:solidFill>
                  <a:srgbClr val="FDF8EC"/>
                </a:solidFill>
                <a:latin typeface="Calibri"/>
              </a:defRPr>
            </a:pPr>
            <a:r>
              <a:t>  Data-driven optimization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0" y="1371600"/>
            <a:ext cx="6705295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843"/>
                </a:solidFill>
                <a:latin typeface="Georgia"/>
              </a:defRPr>
            </a:pPr>
            <a:r>
              <a:t>Let's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Bocage Champagne Society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017520"/>
            <a:ext cx="6705295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DF8EC"/>
                </a:solidFill>
                <a:latin typeface="Calibri"/>
              </a:defRPr>
            </a:pPr>
            <a:r>
              <a:t>The app is built. The infrastructure is ready.</a:t>
            </a:r>
            <a:br/>
            <a:r>
              <a:t>All we need is your green light to go live.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389120"/>
            <a:ext cx="5790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843"/>
                </a:solidFill>
                <a:latin typeface="Calibri"/>
              </a:defRPr>
            </a:pPr>
            <a:r>
              <a:t>Next Steps: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754880"/>
            <a:ext cx="5790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1.  Review this presentation + app demo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2.  Finalize menu items and event calendar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3.  Set up Supabase + Stripe accounts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4.  Two-week testing sprint with your team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5.  Launch to your members and start generating 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Calibri"/>
              </a:defRPr>
            </a:pPr>
            <a:r>
              <a:t>10 Phila Street, Saratoga Springs, NY 12866  |  champagnebar.com  |  Est. 2021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